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p6TAsEW/h6FTgX4ZOYGiz7Z9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BF37F8-6DED-45C5-B9D1-649866444210}">
  <a:tblStyle styleId="{69BF37F8-6DED-45C5-B9D1-6498664442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10607040" y="0"/>
            <a:ext cx="7680960" cy="102870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48640"/>
            <a:ext cx="3108960" cy="1069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11109960" y="178308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N° 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1109960" y="297180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Nicolás Antonio Salas Villarroel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1109960" y="3483864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Carlos Matias León Gómez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109960" y="3995928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Aylin Catalina Herrera Soto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109960" y="4507992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Benjamín Jeremias González Cortes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1109960" y="5020056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Vicente Antonio Henríquez Rojas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1109960" y="90068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Profesor: Paulo Luis Francisco Quinsacara Jofré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1109960" y="937260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Fecha: 03 - 10 - 2026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777240" y="3566160"/>
            <a:ext cx="9418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CENTRO CLÍNICO ACONCAGUA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5532120"/>
            <a:ext cx="9509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5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4A9FD5"/>
                </a:solidFill>
                <a:latin typeface="Calibri"/>
                <a:ea typeface="Calibri"/>
                <a:cs typeface="Calibri"/>
                <a:sym typeface="Calibri"/>
              </a:rPr>
              <a:t>Incremento III — Sistema de Gestión de Tickets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612648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Ingeniería en Software 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18288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22960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554480" y="182880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" y="26060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22960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554480" y="260604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Resumen del Incremento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22960" y="33832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22960" y="3383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554480" y="338328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Valor Entregado al Negocio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416052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822960" y="41605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554480" y="416052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Alcance Funcional del Incremento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2960" y="493776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822960" y="49377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554480" y="493776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Req. Funcionales (ESA)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22960" y="5715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822960" y="5715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554480" y="571500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CU-54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2960" y="6492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822960" y="64922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54480" y="649224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Diagrama de Secuencia CU-54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22960" y="72694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822960" y="72694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554480" y="726948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Vista en el sistema CU-54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418320" y="18288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418320" y="18288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0149840" y="182880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CU-65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418320" y="26060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9418320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0149840" y="260604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Diagrama de Secuencia CU-65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418320" y="33832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9418320" y="3383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10149840" y="338328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Vista en el sistema CU-65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418320" y="416052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9418320" y="41605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0149840" y="416052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Vista de Desarrollo (Componentes)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418320" y="493776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9418320" y="49377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0149840" y="493776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Casos de uso implementados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418320" y="57150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418320" y="5715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92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192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0149840" y="5715000"/>
            <a:ext cx="7132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2960" y="1874520"/>
            <a:ext cx="713232" cy="713232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server.png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136" y="2045696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783080" y="1828800"/>
            <a:ext cx="1568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Incremento III: </a:t>
            </a:r>
            <a:r>
              <a:rPr lang="en-US" sz="17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tras alcanzar un 71,4% acumulado en el Incremento II (SLA avanzado, control OPEX, activos QR), esta fase consolida la totalidad operativa del sistema, acercándolo a su versión Release Candidate.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22960" y="3410712"/>
            <a:ext cx="713232" cy="713232"/>
          </a:xfrm>
          <a:prstGeom prst="ellipse">
            <a:avLst/>
          </a:prstGeom>
          <a:solidFill>
            <a:srgbClr val="F5C542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cogs.png"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4136" y="358188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1783080" y="3364992"/>
            <a:ext cx="1568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Scrum++: </a:t>
            </a:r>
            <a:r>
              <a:rPr lang="en-US" sz="17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Tercer Sprint de cuatro semanas. Se incorporan 17 nuevos Casos de Uso, alcanzando un 95,7% acumulado de los requerimientos funcionales (67 de 70 en total).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22960" y="4946904"/>
            <a:ext cx="713232" cy="713232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layer.png" id="89" name="Google Shape;8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136" y="5118080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783080" y="4901184"/>
            <a:ext cx="1568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Nuevas áreas cubiertas: </a:t>
            </a:r>
            <a:r>
              <a:rPr lang="en-US" sz="17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mantenimiento y depuración de base de datos, gestión centralizada de identidades y accesibilidad, y automatización de tickets con monitoreo de personal en vivo.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22960" y="6483096"/>
            <a:ext cx="713232" cy="713232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bolt.png" id="92" name="Google Shape;9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4136" y="6654272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1783080" y="6437376"/>
            <a:ext cx="1568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del incremento: </a:t>
            </a:r>
            <a:r>
              <a:rPr lang="en-US" sz="17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transformar un sistema transaccional básico en una plataforma robusta, autónoma y auto-mantenible, reduciendo drásticamente la carga administrativa manual del área de TI.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22960" y="8019288"/>
            <a:ext cx="713232" cy="713232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check.png" id="95" name="Google Shape;9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4136" y="8190464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1783080" y="7973568"/>
            <a:ext cx="1568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Validación: </a:t>
            </a:r>
            <a:r>
              <a:rPr lang="en-US" sz="17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revisado, probado y aprobado por Edgar Guerra (Jefe de TI) y el equipo de soporte técnico del Centro Clínico Aconcagua.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97" name="Google Shape;9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DEL INCREMENTO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2296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822960" y="18288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FD5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4A9FD5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22960" y="25146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Nuevos Implementados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9224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492240" y="18288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95,7%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492240" y="25146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Avance Acumulado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(67 de 70 RF)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216152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2161520" y="18288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4 semanas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2161520" y="251460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822960" y="3611880"/>
            <a:ext cx="16642080" cy="0"/>
          </a:xfrm>
          <a:prstGeom prst="straightConnector1">
            <a:avLst/>
          </a:prstGeom>
          <a:noFill/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822960" y="4370832"/>
            <a:ext cx="274320" cy="27432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280160" y="4187952"/>
            <a:ext cx="1618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Mantenimiento y Depuración de BD: 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segregación de registros antiguos, optimización de índices y limpieza de tablas de traza para asegurar el rendimiento.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2960" y="6199632"/>
            <a:ext cx="274320" cy="274320"/>
          </a:xfrm>
          <a:prstGeom prst="ellipse">
            <a:avLst/>
          </a:prstGeom>
          <a:solidFill>
            <a:srgbClr val="4A9F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280160" y="6016752"/>
            <a:ext cx="1618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Centralizada y Accesibilidad: 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sincronización de usuarios con el directorio activo, carga masiva y concurrente, y ajustes de accesibilidad visual.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22960" y="8028432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280160" y="7845552"/>
            <a:ext cx="1618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Automatización de Tickets y Monitoreo: </a:t>
            </a:r>
            <a:r>
              <a:rPr lang="en-US" sz="1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ingesta automática de correo para la creación de tickets y monitoreo de la disponibilidad del personal técnico en vivo.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 ENTREGADO AL NEGOCIO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2296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22960" y="1828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95,7%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822960" y="24688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Avance acumulado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del proyecto (67/70 CU)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9224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492240" y="1828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FD5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4A9FD5"/>
                </a:solidFill>
                <a:latin typeface="Calibri"/>
                <a:ea typeface="Calibri"/>
                <a:cs typeface="Calibri"/>
                <a:sym typeface="Calibri"/>
              </a:rPr>
              <a:t>1,3 seg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492240" y="24688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Tiempo de respuesta p95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tras archivado e índices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2161520" y="1691640"/>
            <a:ext cx="530352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2161520" y="1828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60 seg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2161520" y="24688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Frecuencia de revisión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del correo de soporte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22960" y="3429000"/>
            <a:ext cx="813816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822960" y="356616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3 tickets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822960" y="420624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Tope simultáneo por técnico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(definido por el cliente)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326880" y="3429000"/>
            <a:ext cx="8138160" cy="1554480"/>
          </a:xfrm>
          <a:prstGeom prst="roundRect">
            <a:avLst>
              <a:gd fmla="val 588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9326880" y="356616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5+ años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9326880" y="420624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Volumen histórico resguardado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en archivo segregado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822960" y="5257800"/>
            <a:ext cx="16642080" cy="0"/>
          </a:xfrm>
          <a:prstGeom prst="straightConnector1">
            <a:avLst/>
          </a:prstGeom>
          <a:noFill/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5"/>
          <p:cNvSpPr txBox="1"/>
          <p:nvPr/>
        </p:nvSpPr>
        <p:spPr>
          <a:xfrm>
            <a:off x="822960" y="5577840"/>
            <a:ext cx="1664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Autonomía del área de TI   ·   Menor carga administrativa   ·   Nuevo canal de atención vía email   ·   Trazabilidad legal (Ley 20.584)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FUNCIONAL DEL INCREMENTO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17373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archive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588" y="21899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2011680" y="20116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Depuración y Archivado Automático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2011680" y="27889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Segregación diaria de tickets cerrados con más de 30 días, con respaldo previo y búsqueda dedicada en el archivo histórico.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326880" y="17373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601200" y="2011680"/>
            <a:ext cx="685800" cy="68580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wrench.png"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508" y="21899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10515600" y="20116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Mantenimiento Preventivo y Papelera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0515600" y="27889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Verificación semanal de integridad referencial, optimización de índices y recuperación de adjuntos eliminados en 48 horas.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2960" y="42519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97280" y="4526280"/>
            <a:ext cx="685800" cy="685800"/>
          </a:xfrm>
          <a:prstGeom prst="ellipse">
            <a:avLst/>
          </a:prstGeom>
          <a:solidFill>
            <a:srgbClr val="F5C542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sliders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5588" y="47045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2011680" y="45262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Categorías y Variables de Plataforma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2011680" y="53035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Configuración de categorías de enrutamiento y variables críticas del sistema sin modificar el código fuente.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326880" y="42519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601200" y="4526280"/>
            <a:ext cx="685800" cy="685800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sync.png" id="174" name="Google Shape;17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508" y="47045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10515600" y="45262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Identidades y Perfil de Usuario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10515600" y="53035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Sincronización diaria con el directorio activo (LDAP/AD), importación masiva por Excel y autogestión del perfil operativo.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22960" y="67665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97280" y="7040880"/>
            <a:ext cx="685800" cy="6858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envelopeopen.png" id="179" name="Google Shape;17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75588" y="72191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2011680" y="70408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 Automática de Tickets vía Email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2011680" y="78181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Transformación de correos de la casilla de soporte en tickets formales, con asignación automática y número de caso.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326880" y="6766560"/>
            <a:ext cx="8138160" cy="2286000"/>
          </a:xfrm>
          <a:prstGeom prst="roundRect">
            <a:avLst>
              <a:gd fmla="val 4000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601200" y="7040880"/>
            <a:ext cx="685800" cy="685800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users.png" id="184" name="Google Shape;18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9508" y="72191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10515600" y="7040880"/>
            <a:ext cx="6675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Monitoreo de Personal y Desempeño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10515600" y="781812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Matriz de competencias, panel de disponibilidad en vivo y control de tiempos de desplazamiento técnico.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187" name="Google Shape;18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 FUNCIONALES — FORMATO ESA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22960" y="1600200"/>
            <a:ext cx="1664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El Formato ESA evalúa cada requerimiento nuevo según cinco dimensiones: necesidad, prioridad, estabilidad, claridad y verificabilidad, garantizando trazabilidad desde el levantamiento hasta las pruebas.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22960" y="2514600"/>
            <a:ext cx="237744" cy="23774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188720" y="23957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= Alta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926080" y="2514600"/>
            <a:ext cx="237744" cy="237744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291840" y="23957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= Media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029200" y="2514600"/>
            <a:ext cx="237744" cy="23774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394960" y="23957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= Baja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7"/>
          <p:cNvGraphicFramePr/>
          <p:nvPr/>
        </p:nvGraphicFramePr>
        <p:xfrm>
          <a:off x="82296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{69BF37F8-6DED-45C5-B9D1-649866444210}</a:tableStyleId>
              </a:tblPr>
              <a:tblGrid>
                <a:gridCol w="1188725"/>
                <a:gridCol w="6949450"/>
                <a:gridCol w="822950"/>
                <a:gridCol w="822950"/>
                <a:gridCol w="822950"/>
                <a:gridCol w="914400"/>
                <a:gridCol w="914400"/>
                <a:gridCol w="43891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Nec.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Clarid.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Fuente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315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Configurar el catálogo de categorías de problemas que enrutan los tickets.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los estados del ticket mediante una máquina de estados secuencial.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RF-54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tickets automáticamente desde los correos de la casilla de soporte.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RF-56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Sincronizar diariamente las identidades con el directorio activo (LDAP/AD).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RF-62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Mantener la matriz de competencias técnico–categoría del motor de asignación.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B4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RF-65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en tiempo real la disponibilidad y carga de cada técnico.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CCC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CCC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Edgar Guerra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91450" marL="91450" anchor="ctr">
                    <a:lnL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B5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235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7"/>
          <p:cNvSpPr txBox="1"/>
          <p:nvPr/>
        </p:nvSpPr>
        <p:spPr>
          <a:xfrm>
            <a:off x="822960" y="7132320"/>
            <a:ext cx="1664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Fuente: Elaborado por el estudiante de acuerdo con el proyecto (extracto representativo de la Tabla 5.1)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CU-54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Creando tickets automáticamente vía ingesta de email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2294108" y="40873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12659868" y="2566437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17" name="Google Shape;2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8443" y="1740975"/>
            <a:ext cx="6011114" cy="5515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CU-54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Diagrama de Secuencia — Flujo Principal y Excepción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2148840" y="4856480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9706807" y="54579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1475720" y="6096000"/>
            <a:ext cx="4663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1097280" y="91165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963" y="2527951"/>
            <a:ext cx="16636073" cy="552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CU-54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Vista en el Sistema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1325880" y="3703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Asunto: Impresora del Piso 3 no responde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1325880" y="434340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915400" y="4572000"/>
            <a:ext cx="1005840" cy="1005840"/>
          </a:xfrm>
          <a:prstGeom prst="roundRect">
            <a:avLst>
              <a:gd fmla="val 50000" name="adj"/>
            </a:avLst>
          </a:prstGeom>
          <a:solidFill>
            <a:srgbClr val="4A9FD5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exchange.png"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4800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 txBox="1"/>
          <p:nvPr/>
        </p:nvSpPr>
        <p:spPr>
          <a:xfrm>
            <a:off x="8686800" y="56692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48" name="Google Shape;2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5769" y="1431037"/>
            <a:ext cx="4299511" cy="7946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0"/>
          <p:cNvPicPr preferRelativeResize="0"/>
          <p:nvPr/>
        </p:nvPicPr>
        <p:blipFill rotWithShape="1">
          <a:blip r:embed="rId6">
            <a:alphaModFix/>
          </a:blip>
          <a:srcRect b="0" l="0" r="55774" t="0"/>
          <a:stretch/>
        </p:blipFill>
        <p:spPr>
          <a:xfrm>
            <a:off x="10285169" y="2788158"/>
            <a:ext cx="6022161" cy="4453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CU-65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Monitoreando la disponibilidad de personal en vivo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12641580" y="2967228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12481560" y="370332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2481560" y="4727448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259" y="2318991"/>
            <a:ext cx="5963482" cy="4963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CU-65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Diagrama de Secuencia — Flujo Principal y Excepción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6812280" y="6715760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1097280" y="91165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3566160" y="91165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500" y="2669540"/>
            <a:ext cx="17262930" cy="494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/>
        </p:nvSpPr>
        <p:spPr>
          <a:xfrm>
            <a:off x="640080" y="384048"/>
            <a:ext cx="17007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CU-65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640080" y="1005840"/>
            <a:ext cx="1700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Vista en el Sistema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188720" y="2560320"/>
            <a:ext cx="1389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Disponibilidad del Personal Técnico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2148840" y="3392424"/>
            <a:ext cx="390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Diego Fuentes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3017520" y="4507992"/>
            <a:ext cx="3901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7559040" y="3392424"/>
            <a:ext cx="390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Camila Rivas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12969240" y="3392424"/>
            <a:ext cx="390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Matías Soto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1463040" y="638251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4736592" y="765352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295" name="Google Shape;2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2862" y="3462103"/>
            <a:ext cx="8602275" cy="336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DE DESARROLLO — DIAGRAMA DE COMPONENTES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822960" y="1737360"/>
            <a:ext cx="16642080" cy="1280160"/>
          </a:xfrm>
          <a:prstGeom prst="roundRect">
            <a:avLst>
              <a:gd fmla="val 7143" name="adj"/>
            </a:avLst>
          </a:prstGeom>
          <a:solidFill>
            <a:srgbClr val="20263D"/>
          </a:solidFill>
          <a:ln cap="flat" cmpd="sng" w="15875">
            <a:solidFill>
              <a:srgbClr val="4A9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097280" y="1943100"/>
            <a:ext cx="868680" cy="868680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laptop.png" id="307" name="Google Shape;3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137" y="216895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 txBox="1"/>
          <p:nvPr/>
        </p:nvSpPr>
        <p:spPr>
          <a:xfrm>
            <a:off x="2286000" y="1883664"/>
            <a:ext cx="14904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2286000" y="2351837"/>
            <a:ext cx="14904720" cy="61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Panel de Administración (Alpine.js + HTML5)  ·  Vista de Disponibilidad de Personal en vivo (WebSocket)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822960" y="3264408"/>
            <a:ext cx="16642080" cy="1280160"/>
          </a:xfrm>
          <a:prstGeom prst="roundRect">
            <a:avLst>
              <a:gd fmla="val 7143" name="adj"/>
            </a:avLst>
          </a:prstGeom>
          <a:solidFill>
            <a:srgbClr val="20263D"/>
          </a:solidFill>
          <a:ln cap="flat" cmpd="sng" w="15875">
            <a:solidFill>
              <a:srgbClr val="F5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097280" y="3470148"/>
            <a:ext cx="868680" cy="868680"/>
          </a:xfrm>
          <a:prstGeom prst="ellipse">
            <a:avLst/>
          </a:prstGeom>
          <a:solidFill>
            <a:srgbClr val="F5C542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network.png" id="312" name="Google Shape;3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3137" y="3696005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 txBox="1"/>
          <p:nvPr/>
        </p:nvSpPr>
        <p:spPr>
          <a:xfrm>
            <a:off x="2286000" y="3410712"/>
            <a:ext cx="14904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2286000" y="3878885"/>
            <a:ext cx="14904720" cy="61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Nginx — Reverse Proxy + TLS  ·  Enrutamiento hacia el contenedor Worker independiente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822960" y="4791456"/>
            <a:ext cx="16642080" cy="1280160"/>
          </a:xfrm>
          <a:prstGeom prst="roundRect">
            <a:avLst>
              <a:gd fmla="val 7143" name="adj"/>
            </a:avLst>
          </a:prstGeom>
          <a:solidFill>
            <a:srgbClr val="20263D"/>
          </a:solidFill>
          <a:ln cap="flat" cmpd="sng" w="15875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097280" y="4997196"/>
            <a:ext cx="868680" cy="868680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cogs.png" id="317" name="Google Shape;3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137" y="5223053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 txBox="1"/>
          <p:nvPr/>
        </p:nvSpPr>
        <p:spPr>
          <a:xfrm>
            <a:off x="2286000" y="4937760"/>
            <a:ext cx="14904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NEGOCIO — MICROSERVICIOS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2286000" y="5405933"/>
            <a:ext cx="14904720" cy="61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Administración y Parametrización · Ciclo de Vida del Dato · Planificador de Tareas · Ingesta de Correo (IMAPS) · Sincronización de Identidades (LDAPS) · Auditoría de Fallos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22960" y="6318504"/>
            <a:ext cx="16642080" cy="1280160"/>
          </a:xfrm>
          <a:prstGeom prst="roundRect">
            <a:avLst>
              <a:gd fmla="val 7143" name="adj"/>
            </a:avLst>
          </a:prstGeom>
          <a:solidFill>
            <a:srgbClr val="20263D"/>
          </a:solidFill>
          <a:ln cap="flat" cmpd="sng" w="1587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097280" y="6524244"/>
            <a:ext cx="868680" cy="86868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database.png" id="322" name="Google Shape;32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3137" y="6750101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 txBox="1"/>
          <p:nvPr/>
        </p:nvSpPr>
        <p:spPr>
          <a:xfrm>
            <a:off x="2286000" y="6464808"/>
            <a:ext cx="14904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2286000" y="6932981"/>
            <a:ext cx="14904720" cy="61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MySQL — 33 tablas + historial_estado inmutable  ·  Servidor de Archivos NAS (adjuntos y papelera)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822960" y="791870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822960" y="8375904"/>
            <a:ext cx="39547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5875">
            <a:solidFill>
              <a:srgbClr val="4A9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1051560" y="8540496"/>
            <a:ext cx="34975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FD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A9FD5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051560" y="8906256"/>
            <a:ext cx="34975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Alpine.js + HTML5 + Cliente WebSocket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052060" y="8375904"/>
            <a:ext cx="39547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587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5280660" y="8540496"/>
            <a:ext cx="34975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5280660" y="8906256"/>
            <a:ext cx="34975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Node.js + Contenedor Worker independiente (node-imap, ldapjs)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9281160" y="8375904"/>
            <a:ext cx="39547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5875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9509760" y="8540496"/>
            <a:ext cx="34975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9509760" y="8906256"/>
            <a:ext cx="34975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MySQL (33 tablas) + Servidor NAS para adjuntos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3510260" y="8375904"/>
            <a:ext cx="39547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5875">
            <a:solidFill>
              <a:srgbClr val="F5C5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13738860" y="8540496"/>
            <a:ext cx="34975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4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5C542"/>
                </a:solidFill>
                <a:latin typeface="Calibri"/>
                <a:ea typeface="Calibri"/>
                <a:cs typeface="Calibri"/>
                <a:sym typeface="Calibri"/>
              </a:rPr>
              <a:t>Automatización: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13738860" y="8906256"/>
            <a:ext cx="34975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Planificador — Depuración, Ingesta IMAPS, Sincronización LDAPS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338" name="Google Shape;33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4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CASOS DE USO IMPLEMENTADOS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640080" y="1298448"/>
            <a:ext cx="1700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17 nuevos Casos de Uso en formato OMT extendido   |   Actores: Administrador, Técnico, Solicitante, Sistema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822960" y="205740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097280" y="2313432"/>
            <a:ext cx="201168" cy="201168"/>
          </a:xfrm>
          <a:prstGeom prst="ellipse">
            <a:avLst/>
          </a:prstGeom>
          <a:solidFill>
            <a:srgbClr val="4A9F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1417320" y="220370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1097280" y="267919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Categorías de Problemas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063490" y="205740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337810" y="2313432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5657850" y="220370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5337810" y="267919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Estados del Ticket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9304020" y="205740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9578340" y="2313432"/>
            <a:ext cx="201168" cy="201168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9898380" y="220370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9578340" y="267919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Depuración de BD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13544550" y="205740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3818870" y="2313432"/>
            <a:ext cx="201168" cy="20116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14138910" y="220370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3818870" y="267919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Búsqueda en Archivo Histórico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22960" y="352044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1097280" y="3776472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 txBox="1"/>
          <p:nvPr/>
        </p:nvSpPr>
        <p:spPr>
          <a:xfrm>
            <a:off x="1417320" y="366674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CU-37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1097280" y="414223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Datos Personales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5063490" y="352044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337810" y="3776472"/>
            <a:ext cx="201168" cy="201168"/>
          </a:xfrm>
          <a:prstGeom prst="ellipse">
            <a:avLst/>
          </a:prstGeom>
          <a:solidFill>
            <a:srgbClr val="4A9F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 txBox="1"/>
          <p:nvPr/>
        </p:nvSpPr>
        <p:spPr>
          <a:xfrm>
            <a:off x="5657850" y="366674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5337810" y="414223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Registro Concurrente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9304020" y="352044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9578340" y="3776472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9898380" y="366674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CU-41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9578340" y="414223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Variables de Plataforma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3544550" y="352044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3818870" y="3776472"/>
            <a:ext cx="201168" cy="201168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14138910" y="366674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13818870" y="414223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Auditoría de Fallos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22960" y="498348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097280" y="5239512"/>
            <a:ext cx="201168" cy="20116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1417320" y="512978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CU-46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1097280" y="560527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Papelera de Evidencias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5063490" y="498348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337810" y="5239512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5657850" y="512978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CU-49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5337810" y="560527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Mantenimiento Preventivo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9304020" y="498348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9578340" y="5239512"/>
            <a:ext cx="201168" cy="201168"/>
          </a:xfrm>
          <a:prstGeom prst="ellipse">
            <a:avLst/>
          </a:prstGeom>
          <a:solidFill>
            <a:srgbClr val="4A9F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9898380" y="512978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9578340" y="560527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Mensajes Institucionales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3544550" y="498348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3818870" y="5239512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 txBox="1"/>
          <p:nvPr/>
        </p:nvSpPr>
        <p:spPr>
          <a:xfrm>
            <a:off x="14138910" y="512978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13818870" y="560527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Ingesta de Tickets vía Email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22960" y="644652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097280" y="6702552"/>
            <a:ext cx="201168" cy="201168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1417320" y="659282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1097280" y="706831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Identidades Centralizadas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5063490" y="644652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337810" y="6702552"/>
            <a:ext cx="201168" cy="20116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5657850" y="659282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CU-59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5337810" y="706831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Métricas Cualitativas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9304020" y="644652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9578340" y="6702552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9898380" y="659282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9578340" y="706831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Matriz de Competencias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3544550" y="644652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3818870" y="6702552"/>
            <a:ext cx="201168" cy="201168"/>
          </a:xfrm>
          <a:prstGeom prst="ellipse">
            <a:avLst/>
          </a:prstGeom>
          <a:solidFill>
            <a:srgbClr val="4A9F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14138910" y="659282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13818870" y="706831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Tiempos de Desplazamiento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183755" y="7909560"/>
            <a:ext cx="392049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458075" y="8165592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7778115" y="8055864"/>
            <a:ext cx="30975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CU-65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7458075" y="8531352"/>
            <a:ext cx="34175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Disponibilidad en Vivo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416" name="Google Shape;4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5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 txBox="1"/>
          <p:nvPr/>
        </p:nvSpPr>
        <p:spPr>
          <a:xfrm>
            <a:off x="640080" y="457200"/>
            <a:ext cx="1700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822960" y="1874520"/>
            <a:ext cx="166420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097280" y="2185416"/>
            <a:ext cx="566928" cy="56692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check.png" id="427" name="Google Shape;4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681" y="23328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 txBox="1"/>
          <p:nvPr/>
        </p:nvSpPr>
        <p:spPr>
          <a:xfrm>
            <a:off x="1984248" y="2020824"/>
            <a:ext cx="15206472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Avance acumulado del 95,7 %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1984248" y="2445106"/>
            <a:ext cx="15206472" cy="570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67 de 70 Casos de Uso implementados: automatización de la ingesta de tickets, mantenimiento de base de datos e identidades centralizadas.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822960" y="3291840"/>
            <a:ext cx="166420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1097280" y="3602736"/>
            <a:ext cx="566928" cy="566928"/>
          </a:xfrm>
          <a:prstGeom prst="ellipse">
            <a:avLst/>
          </a:prstGeom>
          <a:solidFill>
            <a:srgbClr val="4A9FD5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mail.png" id="432" name="Google Shape;4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681" y="375013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6"/>
          <p:cNvSpPr txBox="1"/>
          <p:nvPr/>
        </p:nvSpPr>
        <p:spPr>
          <a:xfrm>
            <a:off x="1984248" y="3438144"/>
            <a:ext cx="15206472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 inmediato para el área de TI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1984248" y="3862426"/>
            <a:ext cx="15206472" cy="570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Nuevo canal de atención vía correo electrónico y panel de disponibilidad de personal técnico en tiempo real.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822960" y="4709160"/>
            <a:ext cx="166420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1097280" y="5020056"/>
            <a:ext cx="566928" cy="566928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shield.png" id="437" name="Google Shape;4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681" y="516745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6"/>
          <p:cNvSpPr txBox="1"/>
          <p:nvPr/>
        </p:nvSpPr>
        <p:spPr>
          <a:xfrm>
            <a:off x="1984248" y="4855464"/>
            <a:ext cx="15206472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y cumplimiento normativo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1984248" y="5279746"/>
            <a:ext cx="15206472" cy="570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Archivo histórico segregado, auditoría técnica transversal de fallos y resguardo de datos conforme a la Ley 20.584.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822960" y="6126480"/>
            <a:ext cx="166420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1097280" y="6437376"/>
            <a:ext cx="566928" cy="566928"/>
          </a:xfrm>
          <a:prstGeom prst="ellipse">
            <a:avLst/>
          </a:prstGeom>
          <a:solidFill>
            <a:srgbClr val="F5C542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network.png" id="442" name="Google Shape;4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4681" y="658477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6"/>
          <p:cNvSpPr txBox="1"/>
          <p:nvPr/>
        </p:nvSpPr>
        <p:spPr>
          <a:xfrm>
            <a:off x="1984248" y="6272784"/>
            <a:ext cx="15206472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robusta y escalable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1984248" y="6697066"/>
            <a:ext cx="15206472" cy="570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Contenedor Worker independiente para tareas programadas, 33 tablas en el modelo de datos y microservicios ampliados.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822960" y="7543800"/>
            <a:ext cx="16642080" cy="1188720"/>
          </a:xfrm>
          <a:prstGeom prst="roundRect">
            <a:avLst>
              <a:gd fmla="val 7692" name="adj"/>
            </a:avLst>
          </a:prstGeom>
          <a:solidFill>
            <a:srgbClr val="2026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097280" y="7854696"/>
            <a:ext cx="566928" cy="566928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333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icons/chartbar.png" id="447" name="Google Shape;4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81" y="800209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6"/>
          <p:cNvSpPr txBox="1"/>
          <p:nvPr/>
        </p:nvSpPr>
        <p:spPr>
          <a:xfrm>
            <a:off x="1984248" y="7690104"/>
            <a:ext cx="15206472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con métricas operativas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1984248" y="8114386"/>
            <a:ext cx="15206472" cy="570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Indicadores de disponibilidad de personal, trazabilidad de la ingesta de correos y monitoreo continuo de desempeño.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640080" y="9098280"/>
            <a:ext cx="1700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  |  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nc3/build/assets/logo_aconcagua.png" id="451" name="Google Shape;4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" y="9720072"/>
            <a:ext cx="114300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6"/>
          <p:cNvSpPr txBox="1"/>
          <p:nvPr/>
        </p:nvSpPr>
        <p:spPr>
          <a:xfrm>
            <a:off x="1920240" y="9720072"/>
            <a:ext cx="14173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Sistema de Gestión de Tickets — Centro Clínico Aconcagua  |  Grupo 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17099280" y="9720072"/>
            <a:ext cx="548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B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4B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2026-10-03T03:55:37Z</dcterms:created>
  <dc:creator>PptxGenJS</dc:creator>
</cp:coreProperties>
</file>